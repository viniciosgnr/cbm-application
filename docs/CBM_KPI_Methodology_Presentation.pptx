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64592" cy="2926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800"/>
              </a:spcBef>
              <a:defRPr sz="3600" b="1">
                <a:solidFill>
                  <a:srgbClr val="FFFFFF"/>
                </a:solidFill>
                <a:latin typeface="Segoe UI"/>
              </a:defRPr>
            </a:pPr>
            <a:r>
              <a:t>Fleet Health &amp; Risk Scoring Methodology</a:t>
            </a:r>
          </a:p>
          <a:p>
            <a:pPr>
              <a:spcBef>
                <a:spcPts val="800"/>
              </a:spcBef>
              <a:defRPr sz="1600">
                <a:solidFill>
                  <a:srgbClr val="CBD5E1"/>
                </a:solidFill>
                <a:latin typeface="Segoe UI"/>
              </a:defRPr>
            </a:pPr>
            <a:r>
              <a:t>Mathematical Formulation, CBMnet Standards Alignment &amp; Unified Fleet Deduction Logic</a:t>
            </a:r>
          </a:p>
          <a:p>
            <a:pPr>
              <a:spcBef>
                <a:spcPts val="30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Author: Reliability &amp; Condition Monitoring Engineering Team  |  Target: Engineering &amp; Operations Alignment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Executive Summary &amp; Methodology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73152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2057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1. Standardized Risk Metric</a:t>
            </a:r>
          </a:p>
          <a:p>
            <a:pPr>
              <a:spcBef>
                <a:spcPts val="1600"/>
              </a:spcBef>
              <a:defRPr sz="1100">
                <a:solidFill>
                  <a:srgbClr val="64748B"/>
                </a:solidFill>
                <a:latin typeface="Segoe UI"/>
              </a:defRPr>
            </a:pPr>
            <a:r>
              <a:t>Replace subjective and ambiguous rankings with mathematically rigorous, auditable scores that reflect true asset criticality and condition.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11880" y="1737360"/>
            <a:ext cx="73152" cy="4114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737360"/>
            <a:ext cx="2057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2. Real-World Integration</a:t>
            </a:r>
          </a:p>
          <a:p>
            <a:pPr>
              <a:spcBef>
                <a:spcPts val="1600"/>
              </a:spcBef>
              <a:defRPr sz="1100">
                <a:solidFill>
                  <a:srgbClr val="64748B"/>
                </a:solidFill>
                <a:latin typeface="Segoe UI"/>
              </a:defRPr>
            </a:pPr>
            <a:r>
              <a:t>Bridge international standards (CBMnet §1.6 &amp; FAR Overdue) with our industrial operating assets (IFS EAM RAM criticality &amp; ISO vibration tiers).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630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73152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2057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3. 100% Unified Deductions</a:t>
            </a:r>
          </a:p>
          <a:p>
            <a:pPr>
              <a:spcBef>
                <a:spcPts val="1600"/>
              </a:spcBef>
              <a:defRPr sz="1100">
                <a:solidFill>
                  <a:srgbClr val="64748B"/>
                </a:solidFill>
                <a:latin typeface="Segoe UI"/>
              </a:defRPr>
            </a:pPr>
            <a:r>
              <a:t>Unify the 3 fleet KPIs (Fault Risk, Compliance Risk, Total Risk) under an intuitive 100% health potential where defects and overdue PMs deduct bounded points.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06840" y="1737360"/>
            <a:ext cx="73152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37360"/>
            <a:ext cx="2057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4. Offshore Usability</a:t>
            </a:r>
          </a:p>
          <a:p>
            <a:pPr>
              <a:spcBef>
                <a:spcPts val="1600"/>
              </a:spcBef>
              <a:defRPr sz="1100">
                <a:solidFill>
                  <a:srgbClr val="64748B"/>
                </a:solidFill>
                <a:latin typeface="Segoe UI"/>
              </a:defRPr>
            </a:pPr>
            <a:r>
              <a:t>Equip offshore and onshore teams with clear, harmonized score badges (X/12, Y/15, Z/15) in equipment details for rapid triage and maintenance planning.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Reference Baseline: CBMnet Standard Risk Levels (§1.6)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21792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CBMnet Theoretical Standard Specifications</a:t>
            </a:r>
          </a:p>
          <a:p>
            <a:pPr>
              <a:spcBef>
                <a:spcPts val="1000"/>
              </a:spcBef>
              <a:defRPr sz="1150" b="1">
                <a:solidFill>
                  <a:srgbClr val="0F172A"/>
                </a:solidFill>
              </a:defRPr>
            </a:pPr>
            <a:r>
              <a:t>• Fault Risk (Max 25):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Highest Likelihood of all Faults (Max 5) × Consequence of Failure of Machine (Max 5). Results in a 5×5 matrix.</a:t>
            </a:r>
          </a:p>
          <a:p>
            <a:pPr>
              <a:spcBef>
                <a:spcPts val="1000"/>
              </a:spcBef>
              <a:defRPr sz="1150" b="1">
                <a:solidFill>
                  <a:srgbClr val="0F172A"/>
                </a:solidFill>
              </a:defRPr>
            </a:pPr>
            <a:r>
              <a:t>• Compliance Risk (Max 25):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Compliance Level (Max 5) × Consequence of Failure of Machine (Max 5). Scales overdue inspection exposure.</a:t>
            </a:r>
          </a:p>
          <a:p>
            <a:pPr>
              <a:spcBef>
                <a:spcPts val="1000"/>
              </a:spcBef>
              <a:defRPr sz="1150" b="1">
                <a:solidFill>
                  <a:srgbClr val="0F172A"/>
                </a:solidFill>
              </a:defRPr>
            </a:pPr>
            <a:r>
              <a:t>• CBMnet Total Risk (Max 30):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Fault Risk + (20% × Compliance Risk). Preserves physical condition as the dominant risk factor (up to 25), with maintenance compliance as a 20% modifier (up to 5 pts).</a:t>
            </a:r>
          </a:p>
          <a:p>
            <a:pPr>
              <a:spcBef>
                <a:spcPts val="1000"/>
              </a:spcBef>
              <a:defRPr sz="1150" b="1">
                <a:solidFill>
                  <a:srgbClr val="0F172A"/>
                </a:solidFill>
              </a:defRPr>
            </a:pPr>
            <a:r>
              <a:t>• Key Architectural Principle: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Condition severity is prioritized as primary; operational survey adherence is secondary. This 20% Pareto modifier ensures machines with active mechanical anomalies are always prioritized.</a:t>
            </a:r>
          </a:p>
        </p:txBody>
      </p:sp>
      <p:pic>
        <p:nvPicPr>
          <p:cNvPr id="8" name="Picture 7" descr="media_17901383946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114800" cy="59589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Reference Baseline: PM Overdue (%) Mathematical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21792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FAR PM Overdue Mathematical Formulation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Calendar-based PM Overdue Formulation:</a:t>
            </a:r>
          </a:p>
          <a:p>
            <a:pPr>
              <a:defRPr sz="1200" b="1">
                <a:solidFill>
                  <a:srgbClr val="2563EB"/>
                </a:solidFill>
              </a:defRPr>
            </a:pPr>
            <a:r>
              <a:t>PM Overdue (%) = [(Today - Due Date) / PM Interval] × 100%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Run-Hour Based PM Overdue Formulation:</a:t>
            </a:r>
          </a:p>
          <a:p>
            <a:pPr>
              <a:defRPr sz="1200" b="1">
                <a:solidFill>
                  <a:srgbClr val="2563EB"/>
                </a:solidFill>
              </a:defRPr>
            </a:pPr>
            <a:r>
              <a:t>PM Overdue (%) = [Current Run Hours since Last PM / PM Interval Run Hours] × 100%</a:t>
            </a:r>
          </a:p>
          <a:p>
            <a:pPr>
              <a:spcBef>
                <a:spcPts val="1400"/>
              </a:spcBef>
              <a:defRPr sz="1100" b="1">
                <a:solidFill>
                  <a:srgbClr val="0F172A"/>
                </a:solidFill>
              </a:defRPr>
            </a:pPr>
            <a:r>
              <a:t>Standard Criteria Range (FAR Overdue Buckets):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• Not Overdue: ≤ 0% (Inspection completed on or before scheduled date)</a:t>
            </a:r>
            <a:br/>
            <a:r>
              <a:t>• 0 - 50%: Early grace window slippage</a:t>
            </a:r>
            <a:br/>
            <a:r>
              <a:t>• 50 - 100%: Missed by up to 1 full collection cycle</a:t>
            </a:r>
            <a:br/>
            <a:r>
              <a:t>• 100 - 150%: Double interval missed</a:t>
            </a:r>
            <a:br/>
            <a:r>
              <a:t>• 150 - 200%: Prolonged surveillance lapse</a:t>
            </a:r>
            <a:br/>
            <a:r>
              <a:t>• &gt; 200%: Critical unmonitored blind spot</a:t>
            </a:r>
          </a:p>
        </p:txBody>
      </p:sp>
      <p:pic>
        <p:nvPicPr>
          <p:cNvPr id="8" name="Picture 7" descr="media_1790138658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011680"/>
            <a:ext cx="4206240" cy="17875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Architectural Adaptation: Real-World Data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651760"/>
                <a:gridCol w="350489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CBMnet Theoretical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CBM Application Implementation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Technical Justification &amp; Operational Value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Consequence / Criticality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 qualitative levels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3 IFS RAM Classes</a:t>
                      </a:r>
                      <a:br/>
                      <a:r>
                        <a:t>(Low = 1, Medium = 2, High/SECE =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Predetermined during project Reliability &amp; Maintainability (RAM) study and mastered in IFS EAM. Prevents subjective analyst tampering.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Condition / Likelihood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 arbitrary levels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4 Standard CBM Tiers</a:t>
                      </a:r>
                      <a:br/>
                      <a:r>
                        <a:t>(T4 Good=1, T3 Good=2, T2 Degraded=3, T1 Critical=4)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Strictly derived from certified vibration &amp; lube oil surveillance (ISO 10816 / ISO 17359). Represents worst-case technique status.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Compliance Overdue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 qualitative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6 FAR PM Overdue Indices</a:t>
                      </a:r>
                      <a:br/>
                      <a:r>
                        <a:t>(Index 0 to Index 5 based on actual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Calculated objectively using (Today - Due Date) / PM Interval. Mathematical ratio eliminates manual estimation.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Risk Output Scales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Fault: 25 | Comp: 25 | Total: 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Fault: 12 | Comp: 15 | Total: 15.0</a:t>
                      </a:r>
                      <a:br/>
                      <a:r>
                        <a:t>(with 20% compliance weight)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Maintains exact CBMnet balance (20% weight on compliance). Compact scales are clearer for offshore operations.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KPI 1: Fault Risk Formulation (Scale 1 to 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CORE FAULT RISK FORMULA (PER ASSET):</a:t>
            </a:r>
          </a:p>
          <a:p>
            <a:pPr>
              <a:spcBef>
                <a:spcPts val="400"/>
              </a:spcBef>
              <a:defRPr sz="1800" b="1">
                <a:solidFill>
                  <a:srgbClr val="1E3A8A"/>
                </a:solidFill>
              </a:defRPr>
            </a:pPr>
            <a:r>
              <a:t>Fault Risk = Worst Condition Tier (1 to 4)  ×  IFS Criticality (1 to 3)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Resulting Score Range: 1 to 12 pts  |  Categorization: Low (1-3), Medium (4-7), High (8-11), Critical (≥12)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52120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Variable 1: Worst Condition Tier (ISO Tiers)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• Consolidated Multi-Technique Rule:</a:t>
            </a:r>
            <a:br/>
            <a:r>
              <a:t>   Condition = max(Tier(Vibration), Tier(Lube Oil))</a:t>
            </a:r>
            <a:br/>
            <a:br/>
            <a:r>
              <a:t>• Tier 1 (Critical) = 4 points</a:t>
            </a:r>
            <a:br/>
            <a:r>
              <a:t>   Severe machinery fault detected; failure imminent.</a:t>
            </a:r>
            <a:br/>
            <a:br/>
            <a:r>
              <a:t>• Tier 2 (Degraded) = 3 points</a:t>
            </a:r>
            <a:br/>
            <a:r>
              <a:t>   Detectable mechanical anomaly requiring maintenance.</a:t>
            </a:r>
            <a:br/>
            <a:br/>
            <a:r>
              <a:t>• Tier 3 (Good / Baseline Watch) = 2 points</a:t>
            </a:r>
            <a:br/>
            <a:r>
              <a:t>   Operational, minor trend elevation.</a:t>
            </a:r>
            <a:br/>
            <a:br/>
            <a:r>
              <a:t>• Tier 4 (Good / Normal) = 1 point</a:t>
            </a:r>
            <a:br/>
            <a:r>
              <a:t>   Optimal baseline operation, no anomaly.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52120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Variable 2: IFS RAM Criticality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• Sourced directly from IFS Enterprise Asset Management:</a:t>
            </a:r>
            <a:br/>
            <a:br/>
            <a:r>
              <a:t>• High / Critical / SECE = 3 points</a:t>
            </a:r>
            <a:br/>
            <a:r>
              <a:t>   Safety &amp; Environmental Critical Element (SECE) or single-point production shutdown consequence.</a:t>
            </a:r>
            <a:br/>
            <a:br/>
            <a:r>
              <a:t>• Medium Criticality = 2 points</a:t>
            </a:r>
            <a:br/>
            <a:r>
              <a:t>   Significant production impact with partial redundancy.</a:t>
            </a:r>
            <a:br/>
            <a:br/>
            <a:r>
              <a:t>• Low Criticality = 1 point</a:t>
            </a:r>
            <a:br/>
            <a:r>
              <a:t>   Full standby redundancy, non-critical balance of plant.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KPI 1: Fault Risk Matrix &amp; Fleet Overall Health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669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914400"/>
                <a:gridCol w="914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IFS Criticality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Tier 4</a:t>
                      </a:r>
                      <a:br/>
                      <a:r>
                        <a:t>(Good)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Tier 3</a:t>
                      </a:r>
                      <a:br/>
                      <a:r>
                        <a:t>(Good)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Tier 2</a:t>
                      </a:r>
                      <a:br/>
                      <a:r>
                        <a:t>(Degr.)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Tier 1</a:t>
                      </a:r>
                      <a:br/>
                      <a:r>
                        <a:t>(Crit.)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High / SECE (3)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Medium (2)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9731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Low (1)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389120"/>
            <a:ext cx="56692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Matrix Risk Categories: Green = Low (1-3) | Yellow = Medium (4-7) | Orange = High (8-11) | Red = Critical (12)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371600"/>
            <a:ext cx="47548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Fleet Overall Health % (100% Deduction Logic)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• Maximum Fleet Health Points:</a:t>
            </a:r>
            <a:br/>
            <a:r>
              <a:t>   Max Points = N machines × 12 points</a:t>
            </a:r>
            <a:br/>
            <a:br/>
            <a:r>
              <a:t>• Targeted Penalty Deductions:</a:t>
            </a:r>
            <a:br/>
            <a:r>
              <a:t>   Deductions occur ONLY for active anomalies:</a:t>
            </a:r>
            <a:br/>
            <a:r>
              <a:t>   - Tier 1 (Critical) Machine: Deducts its Fault Risk score</a:t>
            </a:r>
            <a:br/>
            <a:r>
              <a:t>   - Tier 2 (Degraded) Machine: Deducts its Fault Risk score</a:t>
            </a:r>
            <a:br/>
            <a:r>
              <a:t>   - Tier 3 / Tier 4 (Good) Machines: Deduct 0 points</a:t>
            </a:r>
            <a:br/>
            <a:br/>
            <a:r>
              <a:t>• Fleet Health % Formula: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Overall Health % = [(Max Points - Deductions) / Max Points] × 100%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KPI 2: PM Overdue (%) &amp; 6-Stage Delay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D9488"/>
                </a:solidFill>
              </a:defRPr>
            </a:pPr>
            <a:r>
              <a:t>PM OVERDUE MATHEMATICAL FORMULA &amp; CONSOLIDATION:</a:t>
            </a:r>
          </a:p>
          <a:p>
            <a:pPr>
              <a:spcBef>
                <a:spcPts val="400"/>
              </a:spcBef>
              <a:defRPr sz="1700" b="1">
                <a:solidFill>
                  <a:srgbClr val="1E3A8A"/>
                </a:solidFill>
              </a:defRPr>
            </a:pPr>
            <a:r>
              <a:t>PM Overdue (%) = [(Today - Planned Date) / PM Interval (days)] × 100%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Independent Surveys: Vibration (e.g. 24 days) and Lube Oil (e.g. 84 days) are evaluated separately. Highest delay index is adopted.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743200"/>
          <a:ext cx="1072865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7071055"/>
              </a:tblGrid>
              <a:tr h="48332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Overdue Range (%)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Overdue Index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Operational Severity &amp; Technical Impact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≤ 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Index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On Schedule — Machine survey is fully up-to-date. Zero compliance penalty.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0% - 50%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Index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Early Delay — Minor route slippage within allowable grace rescheduling window.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50% - 100%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Index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Moderate Delay — Overdue by up to one full inspection interval. Maintenance rescheduled.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100% - 150%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Index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Significant Delay — Machine missed two successive monitoring windows. Elevated operational risk.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150% - 200%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Index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Severe Delay — Extended unmonitored period. Priority offshore route required.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&gt; 200%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Index 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64748B"/>
                          </a:solidFill>
                        </a:defRPr>
                      </a:pPr>
                      <a:r>
                        <a:t>Critical Delay — Extreme blind spot (&gt; 2x nominal cycle). Severe data integrity breach.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KPI 2: Compliance Risk Matrix &amp; Fleet Compliance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6217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IFS Criticality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Idx 0</a:t>
                      </a:r>
                      <a:br/>
                      <a:r>
                        <a:t>(0%)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Idx 1</a:t>
                      </a:r>
                      <a:br/>
                      <a:r>
                        <a:t>(50%)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Idx 2</a:t>
                      </a:r>
                      <a:br/>
                      <a:r>
                        <a:t>(100%)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Idx 3</a:t>
                      </a:r>
                      <a:br/>
                      <a:r>
                        <a:t>(150%)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Idx 4</a:t>
                      </a:r>
                      <a:br/>
                      <a:r>
                        <a:t>(200%)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Idx 5</a:t>
                      </a:r>
                      <a:br/>
                      <a:r>
                        <a:t>(&gt;200%)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High / SECE (3)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F444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Medium (2)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9731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Low (1)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371600"/>
            <a:ext cx="420624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Fleet Compliance % (100% Deduction Logic)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• Maximum Fleet Compliance Potential:</a:t>
            </a:r>
            <a:br/>
            <a:r>
              <a:t>   Max Points = N machines × 15 points</a:t>
            </a:r>
            <a:br/>
            <a:br/>
            <a:r>
              <a:t>• Overdue Penalty Deductions:</a:t>
            </a:r>
            <a:br/>
            <a:r>
              <a:t>   Every machine overdue beyond 0% deducts its Compliance Risk score (Crit × Index).</a:t>
            </a:r>
            <a:br/>
            <a:r>
              <a:t>   - Machines on schedule (Index 0) deduct 0 pts.</a:t>
            </a:r>
            <a:br/>
            <a:r>
              <a:t>   - Highly critical overdue machines deduct up to 15 pts.</a:t>
            </a:r>
            <a:br/>
            <a:br/>
            <a:r>
              <a:t>• Fleet Compliance % Formula:</a:t>
            </a:r>
          </a:p>
          <a:p>
            <a:pPr>
              <a:spcBef>
                <a:spcPts val="600"/>
              </a:spcBef>
              <a:defRPr sz="1100" b="1">
                <a:solidFill>
                  <a:srgbClr val="0D9488"/>
                </a:solidFill>
              </a:defRPr>
            </a:pPr>
            <a:r>
              <a:t>Compliance % = [(Max Points - Deductions) / Max Points] × 100%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KPI 3: CBM Total Risk Synthesis (Scale 1.0 to 15.0)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COMPOSITE TOTAL RISK FORMULA (CBMnet §1.6 ALIGNED):</a:t>
            </a:r>
          </a:p>
          <a:p>
            <a:pPr>
              <a:spcBef>
                <a:spcPts val="400"/>
              </a:spcBef>
              <a:defRPr sz="1800" b="1">
                <a:solidFill>
                  <a:srgbClr val="1E3A8A"/>
                </a:solidFill>
              </a:defRPr>
            </a:pPr>
            <a:r>
              <a:t>CBM Total Risk = Fault Risk  +  (20%  ×  Compliance Risk)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Scale Range: 1.0 to 15.0 pts (Minimum: 1 + 0 = 1.0 | Maximum: 12 + 0.2×15 = 15.0)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256032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Low Risk</a:t>
            </a:r>
          </a:p>
          <a:p>
            <a:pPr>
              <a:spcBef>
                <a:spcPts val="400"/>
              </a:spcBef>
              <a:defRPr sz="1100" b="1">
                <a:solidFill>
                  <a:srgbClr val="22C55E"/>
                </a:solidFill>
              </a:defRPr>
            </a:pPr>
            <a:r>
              <a:t>Score Range: &lt; 4.0</a:t>
            </a:r>
          </a:p>
          <a:p>
            <a:pPr>
              <a:spcBef>
                <a:spcPts val="1200"/>
              </a:spcBef>
              <a:defRPr sz="1000">
                <a:solidFill>
                  <a:srgbClr val="64748B"/>
                </a:solidFill>
              </a:defRPr>
            </a:pPr>
            <a:r>
              <a:t>Asset operating normally within baseline thresholds and inspection schedule. Routine surveillance.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2560320" cy="10972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2834640"/>
            <a:ext cx="256032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Medium Risk</a:t>
            </a:r>
          </a:p>
          <a:p>
            <a:pPr>
              <a:spcBef>
                <a:spcPts val="400"/>
              </a:spcBef>
              <a:defRPr sz="1100" b="1">
                <a:solidFill>
                  <a:srgbClr val="EAB308"/>
                </a:solidFill>
              </a:defRPr>
            </a:pPr>
            <a:r>
              <a:t>Score Range: 4.0 - 7.9</a:t>
            </a:r>
          </a:p>
          <a:p>
            <a:pPr>
              <a:spcBef>
                <a:spcPts val="1200"/>
              </a:spcBef>
              <a:defRPr sz="1000">
                <a:solidFill>
                  <a:srgbClr val="64748B"/>
                </a:solidFill>
              </a:defRPr>
            </a:pPr>
            <a:r>
              <a:t>Early stage degradation or moderate inspection delay. Engineering review recommended.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834640"/>
            <a:ext cx="2560320" cy="10972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0" y="2834640"/>
            <a:ext cx="256032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High Risk</a:t>
            </a:r>
          </a:p>
          <a:p>
            <a:pPr>
              <a:spcBef>
                <a:spcPts val="400"/>
              </a:spcBef>
              <a:defRPr sz="1100" b="1">
                <a:solidFill>
                  <a:srgbClr val="F97316"/>
                </a:solidFill>
              </a:defRPr>
            </a:pPr>
            <a:r>
              <a:t>Score Range: 8.0 - 11.9</a:t>
            </a:r>
          </a:p>
          <a:p>
            <a:pPr>
              <a:spcBef>
                <a:spcPts val="1200"/>
              </a:spcBef>
              <a:defRPr sz="1000">
                <a:solidFill>
                  <a:srgbClr val="64748B"/>
                </a:solidFill>
              </a:defRPr>
            </a:pPr>
            <a:r>
              <a:t>Substantial degradation (Tier 2 on critical machine) or severe inspection blind spot. Priority triage.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834640"/>
            <a:ext cx="2560320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2834640"/>
            <a:ext cx="256032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Critical Risk</a:t>
            </a:r>
          </a:p>
          <a:p>
            <a:pPr>
              <a:spcBef>
                <a:spcPts val="400"/>
              </a:spcBef>
              <a:defRPr sz="1100" b="1">
                <a:solidFill>
                  <a:srgbClr val="EF4444"/>
                </a:solidFill>
              </a:defRPr>
            </a:pPr>
            <a:r>
              <a:t>Score Range: ≥ 12.0</a:t>
            </a:r>
          </a:p>
          <a:p>
            <a:pPr>
              <a:spcBef>
                <a:spcPts val="1200"/>
              </a:spcBef>
              <a:defRPr sz="1000">
                <a:solidFill>
                  <a:srgbClr val="64748B"/>
                </a:solidFill>
              </a:defRPr>
            </a:pPr>
            <a:r>
              <a:t>Imminent failure potential (Tier 1 on high criticality machine). Immediate offshore intervention.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2834640"/>
            <a:ext cx="2560320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KPI 3: Fleet Total Health %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21792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Consolidated Fleet Deduction Mechanism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The 3rd KPI card captures the total integrity of the entire fleet, combining both active mechanical defects and overdue monitoring penalties into a single management score.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1. Maximum Total Potential: N machines × 15.0 points</a:t>
            </a:r>
          </a:p>
          <a:p>
            <a:pPr>
              <a:spcBef>
                <a:spcPts val="800"/>
              </a:spcBef>
              <a:defRPr sz="1100" b="1">
                <a:solidFill>
                  <a:srgbClr val="2563EB"/>
                </a:solidFill>
              </a:defRPr>
            </a:pPr>
            <a:r>
              <a:t>2. Machine Penalty Deduction Formula:</a:t>
            </a:r>
            <a:br/>
            <a:r>
              <a:t>   Deduction_i = Fault Deduction_i + (0.20 × Compliance Risk_i)</a:t>
            </a:r>
          </a:p>
          <a:p>
            <a:pPr>
              <a:spcBef>
                <a:spcPts val="800"/>
              </a:spcBef>
              <a:defRPr sz="1100" b="1">
                <a:solidFill>
                  <a:srgbClr val="1E3A8A"/>
                </a:solidFill>
              </a:defRPr>
            </a:pPr>
            <a:r>
              <a:t>3. Fleet Total Health % Result:</a:t>
            </a:r>
            <a:br/>
            <a:r>
              <a:t>   Total Health % = [(Max Points - Total Deductions) / Max Points] × 100%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371600"/>
            <a:ext cx="420624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Mathematical Properties of Coherence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• Zero Baseline Drift: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If all machines are healthy (Tier 3/4) and all collections are on schedule, Fleet Total Health = 100.0%.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• Strict Monotonicity: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Every new defect detected or collection delay incurred strictly subtracts bounded points, decreasing the health percentage.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• Balanced Weighting: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A severely degraded pump (Tier 1 on High Crit) deducts 12 pts, whereas severe overdue inspection on that same pump deducts 3.0 pts (20% weight), preventing administrative delays from masking physical breakdowns.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Equipment Details Modal: Score Harmonization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UNIFIED RATIO PRESENTATION IN ASSET HEADER:</a:t>
            </a:r>
          </a:p>
          <a:p>
            <a:pPr>
              <a:spcBef>
                <a:spcPts val="600"/>
              </a:spcBef>
              <a:defRPr sz="2000" b="1">
                <a:solidFill>
                  <a:srgbClr val="1E3A8A"/>
                </a:solidFill>
              </a:defRPr>
            </a:pPr>
            <a:r>
              <a:t>[ Fault: 8/12 ]       [ Compliance: 6/15 ]       [ Total Risk: 9.2/15 ]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347472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97316"/>
                </a:solidFill>
              </a:defRPr>
            </a:pPr>
            <a:r>
              <a:t>Fault Risk Badge (X / 12)</a:t>
            </a:r>
          </a:p>
          <a:p>
            <a:pPr>
              <a:spcBef>
                <a:spcPts val="1000"/>
              </a:spcBef>
              <a:defRPr sz="1050">
                <a:solidFill>
                  <a:srgbClr val="64748B"/>
                </a:solidFill>
              </a:defRPr>
            </a:pPr>
            <a:r>
              <a:t>Displays mechanical defect severity weighted by RAM criticality. Immediately informs the reliability engineer if the machine is operating with active defects.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926080"/>
            <a:ext cx="347472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Compliance Badge (Y / 15)</a:t>
            </a:r>
          </a:p>
          <a:p>
            <a:pPr>
              <a:spcBef>
                <a:spcPts val="1000"/>
              </a:spcBef>
              <a:defRPr sz="1050">
                <a:solidFill>
                  <a:srgbClr val="64748B"/>
                </a:solidFill>
              </a:defRPr>
            </a:pPr>
            <a:r>
              <a:t>Displays surveillance collection overdue status weighted by criticality. Confirms if vibration or oil sampling has been neglected.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2926080"/>
            <a:ext cx="347472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Total Risk Badge (Z / 15)</a:t>
            </a:r>
          </a:p>
          <a:p>
            <a:pPr>
              <a:spcBef>
                <a:spcPts val="1000"/>
              </a:spcBef>
              <a:defRPr sz="1050">
                <a:solidFill>
                  <a:srgbClr val="64748B"/>
                </a:solidFill>
              </a:defRPr>
            </a:pPr>
            <a:r>
              <a:t>The unified CBM score (Fault + 0.20 × Compliance). Formatted as a ratio over 15.0 with color matching the risk classification tier.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Architecture Alignment: CBMnet Standard vs. CBM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200400"/>
                <a:gridCol w="4602175"/>
              </a:tblGrid>
              <a:tr h="66620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Parameter / Metric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CBMnet Theoretical Standard (§1.6)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CBM Application Implementation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Criticality (Consequence)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5 qualitative scale 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3 IFS RAM Classes (Low=1, Medium=2, High/SECE=3)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Condition (Likelihood)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5 arbitrary Likelihood levels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4 Certified CBM Surveillance Tiers (ISO 10816 / 17359)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Compliance Overdue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5 qualitative adherence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6 FAR PM Overdue Indices based on (Today - Due) / Interval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Maximum Fault Risk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25 points (5 × 5 matrix)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12 points (4 Tiers × 3 Criticalities)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Maximum Compliance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25 points (5 × 5 matrix)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15 points (3 Criticalities × 5 Overdue Indices)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Maximum Total Risk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30 points (25 + 0.2 × 25)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15.0 points (12 + 0.2 × 15.0) — Exact 20% weight preserved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Practical Example: Offshore Asset Scoring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Target Asset: Crude Oil Export Pump (P-01A)</a:t>
            </a:r>
          </a:p>
          <a:p>
            <a:pPr>
              <a:spcBef>
                <a:spcPts val="1000"/>
              </a:spcBef>
              <a:defRPr sz="1050">
                <a:solidFill>
                  <a:srgbClr val="64748B"/>
                </a:solidFill>
              </a:defRPr>
            </a:pPr>
            <a:r>
              <a:t>• IFS EAM RAM Criticality: High (Score = 3)</a:t>
            </a:r>
            <a:br/>
            <a:br/>
            <a:r>
              <a:t>• Condition Assessment Findings:</a:t>
            </a:r>
            <a:br/>
            <a:r>
              <a:t>  - Vibration Survey: Tier 2 (Degraded, bearing inner race defect = 3)</a:t>
            </a:r>
            <a:br/>
            <a:r>
              <a:t>  - Lube Oil Survey: Tier 4 (Good = 1)</a:t>
            </a:r>
            <a:br/>
            <a:r>
              <a:t>  - Consolidated Condition: Tier 2 (Degraded = 3 pts)</a:t>
            </a:r>
            <a:br/>
            <a:br/>
            <a:r>
              <a:t>• Routine Surveillance Adherence:</a:t>
            </a:r>
            <a:br/>
            <a:r>
              <a:t>  - Vibration PM Frequency: 24 days</a:t>
            </a:r>
            <a:br/>
            <a:r>
              <a:t>  - Last Survey Completed: 42 days ago</a:t>
            </a:r>
            <a:br/>
            <a:r>
              <a:t>  - Overdue Days: 42 - 24 = 18 days</a:t>
            </a:r>
            <a:br/>
            <a:r>
              <a:t>  - Overdue %: (18 / 24) × 100% = 75.0%</a:t>
            </a:r>
            <a:br/>
            <a:r>
              <a:t>  - Delay Index: 75% falls in (50%-100%] -&gt; Index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Calculated Risk Scores &amp; Fleet Impact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1. Fault Risk Score</a:t>
            </a:r>
          </a:p>
          <a:p>
            <a:pPr>
              <a:defRPr sz="1200" b="1">
                <a:solidFill>
                  <a:srgbClr val="F97316"/>
                </a:solidFill>
              </a:defRPr>
            </a:pPr>
            <a:r>
              <a:t>3 (Crit) × 3 (Tier 2) = 9 / 12  (High Risk)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2. Compliance Risk Score</a:t>
            </a:r>
          </a:p>
          <a:p>
            <a:pPr>
              <a:defRPr sz="1200" b="1">
                <a:solidFill>
                  <a:srgbClr val="0D9488"/>
                </a:solidFill>
              </a:defRPr>
            </a:pPr>
            <a:r>
              <a:t>3 (Crit) × 2 (Index) = 6 / 15  (Moderate Delay)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3. CBM Total Risk Score</a:t>
            </a:r>
          </a:p>
          <a:p>
            <a:pPr>
              <a:defRPr sz="1200" b="1">
                <a:solidFill>
                  <a:srgbClr val="4F46E5"/>
                </a:solidFill>
              </a:defRPr>
            </a:pPr>
            <a:r>
              <a:t>9 + (0.20 × 6) = 10.2 / 15.0  (High Risk)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4. Fleet Deduction Impact</a:t>
            </a:r>
          </a:p>
          <a:p>
            <a:pPr>
              <a:defRPr sz="1200" b="1">
                <a:solidFill>
                  <a:srgbClr val="1E3A8A"/>
                </a:solidFill>
              </a:defRPr>
            </a:pPr>
            <a:r>
              <a:t>Deducts 9 pts from Fleet Fault Health, 6 pts from Fleet Compliance, and 10.2 pts from Total Health.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Management Dashboard: Visual KPI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47472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FAULT RISK &amp; HEALTH</a:t>
            </a:r>
          </a:p>
          <a:p>
            <a:pPr algn="ctr">
              <a:spcBef>
                <a:spcPts val="2400"/>
              </a:spcBef>
              <a:defRPr sz="3600" b="1">
                <a:solidFill>
                  <a:srgbClr val="22C55E"/>
                </a:solidFill>
              </a:defRPr>
            </a:pPr>
            <a:r>
              <a:t>98.3%</a:t>
            </a:r>
          </a:p>
          <a:p>
            <a:pPr algn="ctr">
              <a:defRPr sz="1000" b="1">
                <a:solidFill>
                  <a:srgbClr val="64748B"/>
                </a:solidFill>
              </a:defRPr>
            </a:pPr>
            <a:r>
              <a:t>HEALTH</a:t>
            </a:r>
          </a:p>
          <a:p>
            <a:pPr>
              <a:spcBef>
                <a:spcPts val="2800"/>
              </a:spcBef>
              <a:defRPr sz="1050">
                <a:solidFill>
                  <a:srgbClr val="0F172A"/>
                </a:solidFill>
              </a:defRPr>
            </a:pPr>
            <a:r>
              <a:t>Avg Fault Risk: 2.1 / 12</a:t>
            </a:r>
            <a:br/>
            <a:r>
              <a:t>Evaluated: 104 machines</a:t>
            </a:r>
            <a:br/>
            <a:r>
              <a:t>At Risk: 3 machines (1 Crit, 2 Deg)</a:t>
            </a:r>
            <a:br/>
            <a:r>
              <a:t>Deduction: -21 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7472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COMPLIANCE RISK</a:t>
            </a:r>
          </a:p>
          <a:p>
            <a:pPr algn="ctr">
              <a:spcBef>
                <a:spcPts val="2400"/>
              </a:spcBef>
              <a:defRPr sz="3600" b="1">
                <a:solidFill>
                  <a:srgbClr val="0D9488"/>
                </a:solidFill>
              </a:defRPr>
            </a:pPr>
            <a:r>
              <a:t>95.8%</a:t>
            </a:r>
          </a:p>
          <a:p>
            <a:pPr algn="ctr">
              <a:defRPr sz="1000" b="1">
                <a:solidFill>
                  <a:srgbClr val="64748B"/>
                </a:solidFill>
              </a:defRPr>
            </a:pPr>
            <a:r>
              <a:t>COMPLIANCE</a:t>
            </a:r>
          </a:p>
          <a:p>
            <a:pPr>
              <a:spcBef>
                <a:spcPts val="2800"/>
              </a:spcBef>
              <a:defRPr sz="1050">
                <a:solidFill>
                  <a:srgbClr val="0F172A"/>
                </a:solidFill>
              </a:defRPr>
            </a:pPr>
            <a:r>
              <a:t>Avg Compliance: 0.8 / 15</a:t>
            </a:r>
            <a:br/>
            <a:r>
              <a:t>On Schedule: 92 machines</a:t>
            </a:r>
            <a:br/>
            <a:r>
              <a:t>Overdue PM: 12 machines</a:t>
            </a:r>
            <a:br/>
            <a:r>
              <a:t>Deduction: -65 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7472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CBM TOTAL RISK</a:t>
            </a:r>
          </a:p>
          <a:p>
            <a:pPr algn="ctr">
              <a:spcBef>
                <a:spcPts val="2400"/>
              </a:spcBef>
              <a:defRPr sz="3600" b="1">
                <a:solidFill>
                  <a:srgbClr val="1E3A8A"/>
                </a:solidFill>
              </a:defRPr>
            </a:pPr>
            <a:r>
              <a:t>97.2%</a:t>
            </a:r>
          </a:p>
          <a:p>
            <a:pPr algn="ctr">
              <a:defRPr sz="1000" b="1">
                <a:solidFill>
                  <a:srgbClr val="64748B"/>
                </a:solidFill>
              </a:defRPr>
            </a:pPr>
            <a:r>
              <a:t>TOTAL HEALTH</a:t>
            </a:r>
          </a:p>
          <a:p>
            <a:pPr>
              <a:spcBef>
                <a:spcPts val="2800"/>
              </a:spcBef>
              <a:defRPr sz="1050">
                <a:solidFill>
                  <a:srgbClr val="0F172A"/>
                </a:solidFill>
              </a:defRPr>
            </a:pPr>
            <a:r>
              <a:t>Avg Total Risk: 2.3 / 15</a:t>
            </a:r>
            <a:br/>
            <a:r>
              <a:t>Critical / High: 2 machines</a:t>
            </a:r>
            <a:br/>
            <a:r>
              <a:t>Medium / Low: 102 machines</a:t>
            </a:r>
            <a:br/>
            <a:r>
              <a:t>Deduction: -34.0 pts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CONDITION BASED MAINTENANCE (CBM)</a:t>
            </a:r>
          </a:p>
          <a:p>
            <a:pPr>
              <a:spcBef>
                <a:spcPts val="300"/>
              </a:spcBef>
              <a:defRPr sz="2200" b="1">
                <a:solidFill>
                  <a:srgbClr val="1E3A8A"/>
                </a:solidFill>
                <a:latin typeface="Segoe UI"/>
              </a:defRPr>
            </a:pPr>
            <a:r>
              <a:t>Technical Governance, Auditing &amp; Team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CBMnet Reference Alignment &amp; Fleet Health Scoring | Technical Governance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A8A"/>
                </a:solidFill>
              </a:defRPr>
            </a:pPr>
            <a:r>
              <a:t>Engineering Validation Checklist</a:t>
            </a:r>
          </a:p>
          <a:p>
            <a:pPr>
              <a:spcBef>
                <a:spcPts val="1200"/>
              </a:spcBef>
              <a:defRPr sz="1200" b="1">
                <a:solidFill>
                  <a:srgbClr val="2563EB"/>
                </a:solidFill>
              </a:defRPr>
            </a:pPr>
            <a:r>
              <a:t>✓ In-App Interactivity: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Every KPI card features an (i) Info icon opening an interactive mathematical formula popover directly in the live application.</a:t>
            </a:r>
          </a:p>
          <a:p>
            <a:pPr>
              <a:spcBef>
                <a:spcPts val="1200"/>
              </a:spcBef>
              <a:defRPr sz="1200" b="1">
                <a:solidFill>
                  <a:srgbClr val="2563EB"/>
                </a:solidFill>
              </a:defRPr>
            </a:pPr>
            <a:r>
              <a:t>✓ Automated Data Pipeline: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Scores recalculate reactively whenever new vibration or oil analysis reports are registered or collection dates advance.</a:t>
            </a:r>
          </a:p>
          <a:p>
            <a:pPr>
              <a:spcBef>
                <a:spcPts val="1200"/>
              </a:spcBef>
              <a:defRPr sz="1200" b="1">
                <a:solidFill>
                  <a:srgbClr val="2563EB"/>
                </a:solidFill>
              </a:defRPr>
            </a:pPr>
            <a:r>
              <a:t>✓ Strict Traceability: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Every deduction point subtracted from the 100% fleet health is traceable to a specific machinery defect report or overdue route.</a:t>
            </a:r>
          </a:p>
          <a:p>
            <a:pPr>
              <a:spcBef>
                <a:spcPts val="1200"/>
              </a:spcBef>
              <a:defRPr sz="1200" b="1">
                <a:solidFill>
                  <a:srgbClr val="2563EB"/>
                </a:solidFill>
              </a:defRPr>
            </a:pPr>
            <a:r>
              <a:t>✓ Standard Compliance: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Maintains full alignment with ISO 10816/17359, IFS RAM methodology, and CBMnet §1.6 risk 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