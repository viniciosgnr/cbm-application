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82880" cy="329184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40080"/>
            <a:ext cx="1645920" cy="876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5A24"/>
                </a:solidFill>
                <a:latin typeface="Segoe UI"/>
              </a:defRPr>
            </a:pPr>
            <a:r>
              <a:t>CONDITION BASED MAINTENANCE (CBM)</a:t>
            </a:r>
          </a:p>
          <a:p>
            <a:pPr>
              <a:spcBef>
                <a:spcPts val="800"/>
              </a:spcBef>
              <a:defRPr sz="3600" b="1">
                <a:solidFill>
                  <a:srgbClr val="002E5D"/>
                </a:solidFill>
                <a:latin typeface="Segoe UI"/>
              </a:defRPr>
            </a:pPr>
            <a:r>
              <a:t>Fleet Health &amp; Risk Scoring Methodology</a:t>
            </a:r>
          </a:p>
          <a:p>
            <a:pPr>
              <a:spcBef>
                <a:spcPts val="800"/>
              </a:spcBef>
              <a:defRPr sz="1700">
                <a:solidFill>
                  <a:srgbClr val="64748B"/>
                </a:solidFill>
                <a:latin typeface="Segoe UI"/>
              </a:defRPr>
            </a:pPr>
            <a:r>
              <a:t>Alignment with SBM LOD2-PM, IFS RAM Severity &amp; CBMnet Standards</a:t>
            </a:r>
          </a:p>
          <a:p>
            <a:pPr>
              <a:spcBef>
                <a:spcPts val="2800"/>
              </a:spcBef>
              <a:defRPr sz="1100">
                <a:solidFill>
                  <a:srgbClr val="002E5D"/>
                </a:solidFill>
                <a:latin typeface="Segoe UI"/>
              </a:defRPr>
            </a:pPr>
            <a:r>
              <a:t>Reliability &amp; Condition Monitoring Engineering Team  |  Technical Validation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© SBM Offshore. All rights reserved. www.sbmoffshore.com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Baseline Context: SBM LOD2-PM &amp; CBMnet Standards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SBM LOD2 - PM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Activation Logic: Activated when PM is overdue; deactivated upon 'Work Done'.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FAR Score Determination: Likelihood × RAM-based Severity.</a:t>
            </a:r>
          </a:p>
          <a:p>
            <a:pPr>
              <a:spcBef>
                <a:spcPts val="800"/>
              </a:spcBef>
              <a:defRPr sz="1100" b="1">
                <a:solidFill>
                  <a:srgbClr val="F15A24"/>
                </a:solidFill>
              </a:defRPr>
            </a:pPr>
            <a:r>
              <a:t>• PM Overdue Mathematical Formula (FAR Standard):</a:t>
            </a:r>
            <a:br/>
            <a:r>
              <a:t>   PM Overdue (%) = [(Today - Due Date) / PM Interval] × 100%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Operational Alignment:</a:t>
            </a:r>
            <a:br/>
            <a:r>
              <a:t>   SBM's LOD2-PM governs collection adherence. We map this directly into our 6 overdue indices (Not Overdue to &gt;200%).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CBMnet Theoretical Standard (§1.6)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Fault Risk (Max 25):</a:t>
            </a:r>
            <a:br/>
            <a:r>
              <a:t>   Highest Likelihood of all Faults (Max 5) × Consequence of Failure (Max 5).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Compliance Risk (Max 25):</a:t>
            </a:r>
            <a:br/>
            <a:r>
              <a:t>   Compliance Level (Max 5) × Consequence of Failure (Max 5).</a:t>
            </a:r>
          </a:p>
          <a:p>
            <a:pPr>
              <a:spcBef>
                <a:spcPts val="800"/>
              </a:spcBef>
              <a:defRPr sz="1100" b="1">
                <a:solidFill>
                  <a:srgbClr val="F15A24"/>
                </a:solidFill>
              </a:defRPr>
            </a:pPr>
            <a:r>
              <a:t>• CBMnet Total Risk (Max 30):</a:t>
            </a:r>
            <a:br/>
            <a:r>
              <a:t>   Fault Risk + (20% × Compliance Risk)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Core Pareto Weighting Principle:</a:t>
            </a:r>
            <a:br/>
            <a:r>
              <a:t>   Physical condition is the primary driver of risk. Overdue PM acts as a 20% modifier, preventing admin delays from masking mechanical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KPI 1: Fault Risk Formulation &amp; Matrix (1 to 12)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2E5D"/>
                </a:solidFill>
              </a:defRPr>
            </a:pPr>
            <a:r>
              <a:t>FAULT RISK FORMULA = Worst Condition Tier (1 to 4)  ×  IFS RAM Criticality (1 to 3)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Scale: 1 to 12 pts | Multi-Technique Rule: Condition = max(Vibration Tier, Lube Oil 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Fault Risk Matrix (4×3)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3464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IFS Criticality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Tier 4</a:t>
                      </a:r>
                      <a:br/>
                      <a:r>
                        <a:t>(Good)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Tier 3</a:t>
                      </a:r>
                      <a:br/>
                      <a:r>
                        <a:t>(Good)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Tier 2</a:t>
                      </a:r>
                      <a:br/>
                      <a:r>
                        <a:t>(Degr.)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Tier 1</a:t>
                      </a:r>
                      <a:br/>
                      <a:r>
                        <a:t>(Crit.)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E5D"/>
                          </a:solidFill>
                        </a:defRPr>
                      </a:pPr>
                      <a:r>
                        <a:t>High / SECE (3)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C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E5D"/>
                          </a:solidFill>
                        </a:defRPr>
                      </a:pPr>
                      <a:r>
                        <a:t>Medium (2)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E5D"/>
                          </a:solidFill>
                        </a:defRPr>
                      </a:pPr>
                      <a:r>
                        <a:t>Low (1)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E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656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Fleet Overall Health % Deduction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Maximum Fleet Potential: N machines × 12 points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Active Defect Penalties Only:</a:t>
            </a:r>
            <a:br/>
            <a:r>
              <a:t>   - Tier 1 (Critical) Machine: Deducts its Fault Risk score</a:t>
            </a:r>
            <a:br/>
            <a:r>
              <a:t>   - Tier 2 (Degraded) Machine: Deducts its Fault Risk score</a:t>
            </a:r>
            <a:br/>
            <a:r>
              <a:t>   - Tier 3 / Tier 4 (Good) Machines: Deduct 0 points</a:t>
            </a:r>
          </a:p>
          <a:p>
            <a:pPr>
              <a:spcBef>
                <a:spcPts val="1000"/>
              </a:spcBef>
              <a:defRPr sz="1100" b="1">
                <a:solidFill>
                  <a:srgbClr val="F15A24"/>
                </a:solidFill>
              </a:defRPr>
            </a:pPr>
            <a:r>
              <a:t>• Fleet Health % Formula:</a:t>
            </a:r>
            <a:br/>
            <a:r>
              <a:t>   Health % = [(Max Points - Deductions) / Max Points] ×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KPI 2: Compliance Risk &amp; PM Overdue (0 to 15)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2E5D"/>
                </a:solidFill>
              </a:defRPr>
            </a:pPr>
            <a:r>
              <a:t>COMPLIANCE RISK = IFS RAM Criticality (1 to 3)  ×  PM Overdue Index (0 to 5)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Scale: 0 to 15 pts | PM Overdue (%) = [(Today - Planned Date) / PM Interval] ×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Compliance Risk Matrix (3×6)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34640"/>
          <a:ext cx="6217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IFS Criticality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0</a:t>
                      </a:r>
                      <a:br/>
                      <a:r>
                        <a:t>(0%)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1</a:t>
                      </a:r>
                      <a:br/>
                      <a:r>
                        <a:t>(50%)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2</a:t>
                      </a:r>
                      <a:br/>
                      <a:r>
                        <a:t>(100%)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3</a:t>
                      </a:r>
                      <a:br/>
                      <a:r>
                        <a:t>(150%)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4</a:t>
                      </a:r>
                      <a:br/>
                      <a:r>
                        <a:t>(200%)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Idx 5</a:t>
                      </a:r>
                      <a:br/>
                      <a:r>
                        <a:t>(&gt;200%)</a:t>
                      </a:r>
                    </a:p>
                  </a:txBody>
                  <a:tcPr>
                    <a:solidFill>
                      <a:srgbClr val="002E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E5D"/>
                          </a:solidFill>
                        </a:defRPr>
                      </a:pPr>
                      <a:r>
                        <a:t>High / SECE (3)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C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E5D"/>
                          </a:solidFill>
                        </a:defRPr>
                      </a:pPr>
                      <a:r>
                        <a:t>Medium (2)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E5D"/>
                          </a:solidFill>
                        </a:defRPr>
                      </a:pPr>
                      <a:r>
                        <a:t>Low (1)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E5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376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Fleet Compliance % Deduction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83464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Maximum Fleet Potential: N machines × 15 points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Worst-Case Dual Technique Rule:</a:t>
            </a:r>
            <a:br/>
            <a:r>
              <a:t>   Compliance Risk = max(Crit × Index(Vib), Crit × Index(Oil))</a:t>
            </a:r>
            <a:br/>
            <a:br/>
            <a:r>
              <a:t>• Overdue Penalty Deductions:</a:t>
            </a:r>
            <a:br/>
            <a:r>
              <a:t>   Every machine with overdue &gt; 0% subtracts its Compliance Risk score (up to 15 pts).</a:t>
            </a:r>
          </a:p>
          <a:p>
            <a:pPr>
              <a:spcBef>
                <a:spcPts val="1000"/>
              </a:spcBef>
              <a:defRPr sz="1100" b="1">
                <a:solidFill>
                  <a:srgbClr val="F15A24"/>
                </a:solidFill>
              </a:defRPr>
            </a:pPr>
            <a:r>
              <a:t>• Fleet Compliance % Formula:</a:t>
            </a:r>
            <a:br/>
            <a:r>
              <a:t>   Compliance % = [(Max Points - Deductions) / Max Points] ×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KPI 3: CBM Total Risk Synthesis (1.0 to 15.0)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2E5D"/>
                </a:solidFill>
              </a:defRPr>
            </a:pPr>
            <a:r>
              <a:t>CBM TOTAL RISK = Fault Risk (1 to 12)  +  (20%  ×  Compliance Risk (0 to 15))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Scale: 1.0 to 15.0 pts (Minimum: 1.0 | Maximum: 12 + 0.2×15 = 15.0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Risk Severity Classification Tiers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600"/>
              </a:spcBef>
              <a:defRPr sz="1300" b="1">
                <a:solidFill>
                  <a:srgbClr val="002E5D"/>
                </a:solidFill>
              </a:defRPr>
            </a:pPr>
            <a:r>
              <a:t>Range: &lt; 4.0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Asset operating normally within baseline vibration &amp; oil thresholds. Routine surveillance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2560320" cy="36576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E5D"/>
                </a:solidFill>
              </a:defRPr>
            </a:pPr>
            <a:r>
              <a:t>LOW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83464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600"/>
              </a:spcBef>
              <a:defRPr sz="1300" b="1">
                <a:solidFill>
                  <a:srgbClr val="002E5D"/>
                </a:solidFill>
              </a:defRPr>
            </a:pPr>
            <a:r>
              <a:t>Range: 4.0 - 7.9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Early-stage mechanical degradation or moderate overdue PM. Engineering monitoring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834640"/>
            <a:ext cx="2560320" cy="3657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E5D"/>
                </a:solidFill>
              </a:defRPr>
            </a:pPr>
            <a:r>
              <a:t>MEDIUM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600"/>
              </a:spcBef>
              <a:defRPr sz="1300" b="1">
                <a:solidFill>
                  <a:srgbClr val="002E5D"/>
                </a:solidFill>
              </a:defRPr>
            </a:pPr>
            <a:r>
              <a:t>Range: 8.0 - 11.9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Substantial degradation (Tier 2 on critical machine) or severe inspection blind spot. Priority triage.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E5D"/>
                </a:solidFill>
              </a:defRPr>
            </a:pPr>
            <a:r>
              <a:t>HIGH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834640"/>
            <a:ext cx="256032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600"/>
              </a:spcBef>
              <a:defRPr sz="1300" b="1">
                <a:solidFill>
                  <a:srgbClr val="002E5D"/>
                </a:solidFill>
              </a:defRPr>
            </a:pPr>
            <a:r>
              <a:t>Range: ≥ 12.0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Imminent failure potential (Tier 1 on high criticality machine). Immediate offshore intervention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834640"/>
            <a:ext cx="2560320" cy="36576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2E5D"/>
                </a:solidFill>
              </a:defRPr>
            </a:pPr>
            <a:r>
              <a:t>CRITICAL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Score Harmonization &amp; Fleet Dashboard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Equipment Details Modal: Score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15A24"/>
                </a:solidFill>
              </a:defRPr>
            </a:pPr>
            <a:r>
              <a:t>UNIFIED RATIO FORMAT IN ASSET HEADER:</a:t>
            </a:r>
          </a:p>
          <a:p>
            <a:pPr>
              <a:spcBef>
                <a:spcPts val="400"/>
              </a:spcBef>
              <a:defRPr sz="1800" b="1">
                <a:solidFill>
                  <a:srgbClr val="002E5D"/>
                </a:solidFill>
              </a:defRPr>
            </a:pPr>
            <a:r>
              <a:t>[ Fault: 8/12 ]             [ Compliance: 6/15 ]             [ Total Risk: 9.2/15 ]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Fleet KPI Dashboard Cards (100% Potential)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34747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E5D"/>
                </a:solidFill>
              </a:defRPr>
            </a:pPr>
            <a:r>
              <a:t>FAULT RISK &amp; HEALTH</a:t>
            </a:r>
          </a:p>
          <a:p>
            <a:pPr algn="ctr">
              <a:spcBef>
                <a:spcPts val="1000"/>
              </a:spcBef>
              <a:defRPr sz="3000" b="1">
                <a:solidFill>
                  <a:srgbClr val="F15A24"/>
                </a:solidFill>
              </a:defRPr>
            </a:pPr>
            <a:r>
              <a:t>98.3%</a:t>
            </a:r>
          </a:p>
          <a:p>
            <a:pPr algn="ctr">
              <a:defRPr sz="900" b="1">
                <a:solidFill>
                  <a:srgbClr val="64748B"/>
                </a:solidFill>
              </a:defRPr>
            </a:pPr>
            <a:r>
              <a:t>HEALTH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Avg Fault Risk: 2.1 / 12</a:t>
            </a:r>
            <a:br/>
            <a:r>
              <a:t>Evaluated: 104 machines</a:t>
            </a:r>
            <a:br/>
            <a:r>
              <a:t>At Risk: 3 machines (1 Crit, 2 Deg)</a:t>
            </a:r>
            <a:br/>
            <a:r>
              <a:t>Deduction: -21 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246120"/>
            <a:ext cx="34747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E5D"/>
                </a:solidFill>
              </a:defRPr>
            </a:pPr>
            <a:r>
              <a:t>COMPLIANCE RISK</a:t>
            </a:r>
          </a:p>
          <a:p>
            <a:pPr algn="ctr">
              <a:spcBef>
                <a:spcPts val="1000"/>
              </a:spcBef>
              <a:defRPr sz="3000" b="1">
                <a:solidFill>
                  <a:srgbClr val="F15A24"/>
                </a:solidFill>
              </a:defRPr>
            </a:pPr>
            <a:r>
              <a:t>95.8%</a:t>
            </a:r>
          </a:p>
          <a:p>
            <a:pPr algn="ctr">
              <a:defRPr sz="900" b="1">
                <a:solidFill>
                  <a:srgbClr val="64748B"/>
                </a:solidFill>
              </a:defRPr>
            </a:pPr>
            <a:r>
              <a:t>COMPLIANCE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Avg Compliance: 0.8 / 15</a:t>
            </a:r>
            <a:br/>
            <a:r>
              <a:t>On Schedule: 92 machines</a:t>
            </a:r>
            <a:br/>
            <a:r>
              <a:t>Overdue PM: 12 machines</a:t>
            </a:r>
            <a:br/>
            <a:r>
              <a:t>Deduction: -65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246120"/>
            <a:ext cx="34747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E5D"/>
                </a:solidFill>
              </a:defRPr>
            </a:pPr>
            <a:r>
              <a:t>CBM TOTAL RISK</a:t>
            </a:r>
          </a:p>
          <a:p>
            <a:pPr algn="ctr">
              <a:spcBef>
                <a:spcPts val="1000"/>
              </a:spcBef>
              <a:defRPr sz="3000" b="1">
                <a:solidFill>
                  <a:srgbClr val="F15A24"/>
                </a:solidFill>
              </a:defRPr>
            </a:pPr>
            <a:r>
              <a:t>97.2%</a:t>
            </a:r>
          </a:p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HEALTH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Avg Total Risk: 2.3 / 15</a:t>
            </a:r>
            <a:br/>
            <a:r>
              <a:t>Critical / High: 2 machines</a:t>
            </a:r>
            <a:br/>
            <a:r>
              <a:t>Medium / Low: 102 machines</a:t>
            </a:r>
            <a:br/>
            <a:r>
              <a:t>Deduction: -34.0 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0040" cy="59436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2E5D"/>
                </a:solidFill>
                <a:latin typeface="Segoe UI"/>
              </a:defRPr>
            </a:pPr>
            <a:r>
              <a:t>Practical Case Study: Crude Export Pump (P-01A)</a:t>
            </a:r>
          </a:p>
        </p:txBody>
      </p:sp>
      <p:pic>
        <p:nvPicPr>
          <p:cNvPr id="5" name="Picture 4" descr="sb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188720" cy="63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© SBM Offshore. All rights reserved. www.sbmoffshore.com</a:t>
            </a:r>
          </a:p>
        </p:txBody>
      </p:sp>
      <p:sp>
        <p:nvSpPr>
          <p:cNvPr id="7" name="Oval 6"/>
          <p:cNvSpPr/>
          <p:nvPr/>
        </p:nvSpPr>
        <p:spPr>
          <a:xfrm>
            <a:off x="11292840" y="6400800"/>
            <a:ext cx="320040" cy="320040"/>
          </a:xfrm>
          <a:prstGeom prst="ellipse">
            <a:avLst/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Asset Condition &amp; Surveillance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E5D"/>
                </a:solidFill>
              </a:defRPr>
            </a:pPr>
            <a:r>
              <a:t>• Asset Tag: P-01A (Crude Oil Export Pump)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IFS EAM RAM Criticality: High (Score = 3)</a:t>
            </a:r>
            <a:br/>
            <a:r>
              <a:t>   Single-point production export consequence.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Surveillance Condition:</a:t>
            </a:r>
            <a:br/>
            <a:r>
              <a:t>   - Vibration Survey: Tier 2 (Degraded, inner race bearing defect = 3)</a:t>
            </a:r>
            <a:br/>
            <a:r>
              <a:t>   - Lube Oil Survey: Tier 4 (Good = 1)</a:t>
            </a:r>
            <a:br/>
            <a:r>
              <a:t>   - Resolved Worst Condition = Tier 2 (Degraded = 3 pts)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Overdue PM Calculation:</a:t>
            </a:r>
            <a:br/>
            <a:r>
              <a:t>   - Vibration PM Frequency: 24 days</a:t>
            </a:r>
            <a:br/>
            <a:r>
              <a:t>   - Last Survey Completed: 42 days ago</a:t>
            </a:r>
            <a:br/>
            <a:r>
              <a:t>   - Overdue Days: 42 - 24 = 18 days</a:t>
            </a:r>
            <a:br/>
            <a:r>
              <a:t>   - Overdue %: (18 / 24) × 100% = 75.0%</a:t>
            </a:r>
            <a:br/>
            <a:r>
              <a:t>   - 75% in (50%-100%] -&gt; Overdue Index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u="sng">
                <a:solidFill>
                  <a:srgbClr val="002E5D"/>
                </a:solidFill>
                <a:latin typeface="Segoe UI"/>
              </a:defRPr>
            </a:pPr>
            <a:r>
              <a:t>Calculated Risk Scores &amp; Fleet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E5D"/>
                </a:solidFill>
              </a:defRPr>
            </a:pPr>
            <a:r>
              <a:t>1. Fault Risk Score:</a:t>
            </a:r>
          </a:p>
          <a:p>
            <a:pPr>
              <a:defRPr sz="1200" b="1">
                <a:solidFill>
                  <a:srgbClr val="F15A24"/>
                </a:solidFill>
              </a:defRPr>
            </a:pPr>
            <a:r>
              <a:t>3 (Crit) × 3 (Tier 2) = 9 / 12 pts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 Risk (橙) — Deducts 9 pts from fleet fault health</a:t>
            </a:r>
          </a:p>
          <a:p>
            <a:pPr>
              <a:spcBef>
                <a:spcPts val="1000"/>
              </a:spcBef>
              <a:defRPr sz="1100" b="1">
                <a:solidFill>
                  <a:srgbClr val="002E5D"/>
                </a:solidFill>
              </a:defRPr>
            </a:pPr>
            <a:r>
              <a:t>2. Compliance Risk Score:</a:t>
            </a:r>
          </a:p>
          <a:p>
            <a:pPr>
              <a:defRPr sz="1200" b="1">
                <a:solidFill>
                  <a:srgbClr val="F15A24"/>
                </a:solidFill>
              </a:defRPr>
            </a:pPr>
            <a:r>
              <a:t>3 (Crit) × 2 (Index) = 6 / 15 pts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Moderate Delay (黄) — Deducts 6 pts from fleet compliance</a:t>
            </a:r>
          </a:p>
          <a:p>
            <a:pPr>
              <a:spcBef>
                <a:spcPts val="1000"/>
              </a:spcBef>
              <a:defRPr sz="1100" b="1">
                <a:solidFill>
                  <a:srgbClr val="002E5D"/>
                </a:solidFill>
              </a:defRPr>
            </a:pPr>
            <a:r>
              <a:t>3. CBM Total Risk Score:</a:t>
            </a:r>
          </a:p>
          <a:p>
            <a:pPr>
              <a:defRPr sz="1200" b="1">
                <a:solidFill>
                  <a:srgbClr val="F15A24"/>
                </a:solidFill>
              </a:defRPr>
            </a:pPr>
            <a:r>
              <a:t>9 + (0.20 × 6) = 10.2 / 15.0 pts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 Risk (橙) — Deducts 10.2 pts from fleet total health</a:t>
            </a:r>
          </a:p>
          <a:p>
            <a:pPr>
              <a:spcBef>
                <a:spcPts val="1000"/>
              </a:spcBef>
              <a:defRPr sz="1100" b="1">
                <a:solidFill>
                  <a:srgbClr val="002E5D"/>
                </a:solidFill>
              </a:defRPr>
            </a:pPr>
            <a:r>
              <a:t>4. Fleet Governance Value:</a:t>
            </a:r>
          </a:p>
          <a:p>
            <a:pPr>
              <a:defRPr sz="1200" b="1">
                <a:solidFill>
                  <a:srgbClr val="F15A24"/>
                </a:solidFill>
              </a:defRPr>
            </a:pPr>
            <a:r>
              <a:t>Zero Ambiguity &amp; Full Traceability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Every deduction point is directly auditable to the bearing defect report and 18-day collection delay.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